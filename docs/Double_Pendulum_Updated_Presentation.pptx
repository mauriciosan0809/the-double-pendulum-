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svg" ContentType="image/svg"/>
  <Override PartName="/ppt/media/image9.svg" ContentType="image/svg"/>
  <Override PartName="/ppt/media/image11.svg" ContentType="image/svg"/>
  <Override PartName="/ppt/media/image14.png" ContentType="image/png"/>
  <Override PartName="/ppt/media/image2.png" ContentType="image/png"/>
  <Override PartName="/ppt/media/image7.svg" ContentType="image/svg"/>
  <Override PartName="/ppt/media/image16.svg" ContentType="image/svg"/>
  <Override PartName="/ppt/media/image3.svg" ContentType="image/sv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media17.mp4" ContentType="video/mp4"/>
  <Override PartName="/ppt/media/image4.png" ContentType="image/png"/>
  <Override PartName="/ppt/media/image5.svg" ContentType="image/svg"/>
  <Override PartName="/ppt/media/image8.png" ContentType="image/png"/>
  <Override PartName="/ppt/media/image12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038FAB1-84E2-4FF0-A340-B08CC31DADD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20168D-4152-4251-95FA-F56614A10A8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88F8B3-09C0-4F6D-B5FB-8DCCCCE927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DAD730-F52B-47DB-937D-AF4A6C700B1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EE5704-2F55-4C43-9D8A-67D3D51DF0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3D527-E79E-4339-B856-FC8CBCBCFA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8B5341-16B2-4338-8959-44CFED6FC3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E416D2-EB41-4D75-85E5-D064EAF54D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DARK">
    <p:bg>
      <p:bgPr>
        <a:solidFill>
          <a:srgbClr val="0e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DC9193-8C7E-4105-A5D6-ACD6AB080CDF}" type="slidenum">
              <a: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2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c758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D12B76-0757-4EE4-B9C8-D9E4F54BBF36}" type="slidenum">
              <a:rPr b="0" lang="en-US" sz="900" strike="noStrike" u="none">
                <a:solidFill>
                  <a:srgbClr val="6c7580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video" Target="../media/media17.mp4"/><Relationship Id="rId2" Type="http://schemas.microsoft.com/office/2007/relationships/media" Target="../media/media17.mp4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67000" y="960120"/>
            <a:ext cx="548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221" strike="noStrike" u="none">
                <a:solidFill>
                  <a:srgbClr val="67b7ff"/>
                </a:solidFill>
                <a:effectLst/>
                <a:uFillTx/>
                <a:latin typeface="Aptos"/>
              </a:rPr>
              <a:t>DOUBLE PENDULUM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567000" y="1353240"/>
            <a:ext cx="5668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4f7fa"/>
                </a:solidFill>
                <a:effectLst/>
                <a:uFillTx/>
                <a:latin typeface="Aptos Display"/>
                <a:ea typeface="Aptos Display"/>
              </a:rPr>
              <a:t>Simulation &amp; Numerical Validation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594360" y="242316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Python • RK2 midpoint method • Energy conservation • Pygame visualization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594360" y="3154680"/>
            <a:ext cx="1645560" cy="310680"/>
          </a:xfrm>
          <a:prstGeom prst="roundRect">
            <a:avLst>
              <a:gd name="adj" fmla="val 23529"/>
            </a:avLst>
          </a:prstGeom>
          <a:solidFill>
            <a:srgbClr val="67b7ff"/>
          </a:solidFill>
          <a:ln w="12700">
            <a:solidFill>
              <a:srgbClr val="67b7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594360" y="316368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Numerical modeling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2377440" y="3154680"/>
            <a:ext cx="1142640" cy="310680"/>
          </a:xfrm>
          <a:prstGeom prst="roundRect">
            <a:avLst>
              <a:gd name="adj" fmla="val 23529"/>
            </a:avLst>
          </a:prstGeom>
          <a:solidFill>
            <a:srgbClr val="70d6a8"/>
          </a:solidFill>
          <a:ln w="12700">
            <a:solidFill>
              <a:srgbClr val="70d6a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2377440" y="31636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Validation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3657600" y="3154680"/>
            <a:ext cx="1325520" cy="310680"/>
          </a:xfrm>
          <a:prstGeom prst="roundRect">
            <a:avLst>
              <a:gd name="adj" fmla="val 23529"/>
            </a:avLst>
          </a:prstGeom>
          <a:solidFill>
            <a:srgbClr val="ffd45c"/>
          </a:solidFill>
          <a:ln w="12700">
            <a:solidFill>
              <a:srgbClr val="ffd4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3657600" y="316368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Visualization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594360" y="5440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Mauricio Sanchez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594360" y="57880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Portfolio extension of a PHYS 3910 group project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903720" y="658440"/>
            <a:ext cx="4343040" cy="5357880"/>
          </a:xfrm>
          <a:prstGeom prst="roundRect">
            <a:avLst>
              <a:gd name="adj" fmla="val 2526"/>
            </a:avLst>
          </a:prstGeom>
          <a:solidFill>
            <a:srgbClr val="111c2d"/>
          </a:solidFill>
          <a:ln w="12700">
            <a:solidFill>
              <a:srgbClr val="2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/mnt/data/pendulum_frame.png"/>
          <p:cNvPicPr/>
          <p:nvPr/>
        </p:nvPicPr>
        <p:blipFill>
          <a:blip r:embed="rId1"/>
          <a:srcRect l="9631" t="0" r="9631" b="0"/>
          <a:stretch/>
        </p:blipFill>
        <p:spPr>
          <a:xfrm>
            <a:off x="7059240" y="822960"/>
            <a:ext cx="402300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18"/>
          <p:cNvSpPr/>
          <p:nvPr/>
        </p:nvSpPr>
        <p:spPr>
          <a:xfrm>
            <a:off x="8458200" y="568764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30 s simulation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57385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sldNum" idx="6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9CD0F6-3A4C-410F-ABF6-087873AF38A3}" type="slidenum">
              <a: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530280" y="3841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4f7fa"/>
                </a:solidFill>
                <a:effectLst/>
                <a:uFillTx/>
                <a:latin typeface="Aptos Display"/>
                <a:ea typeface="Aptos Display"/>
              </a:rPr>
              <a:t>Physics Model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548640" y="850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Two equal point masses connected by massless rods of equal length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530280" y="1325880"/>
            <a:ext cx="4068720" cy="4525920"/>
          </a:xfrm>
          <a:prstGeom prst="roundRect">
            <a:avLst>
              <a:gd name="adj" fmla="val 1798"/>
            </a:avLst>
          </a:prstGeom>
          <a:solidFill>
            <a:srgbClr val="111c2d"/>
          </a:solidFill>
          <a:ln w="12700">
            <a:solidFill>
              <a:srgbClr val="2638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 flipH="1">
            <a:off x="1883520" y="1874520"/>
            <a:ext cx="621720" cy="1252440"/>
          </a:xfrm>
          <a:prstGeom prst="line">
            <a:avLst/>
          </a:prstGeom>
          <a:ln w="508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1883520" y="3126960"/>
            <a:ext cx="1088280" cy="1399320"/>
          </a:xfrm>
          <a:prstGeom prst="line">
            <a:avLst/>
          </a:prstGeom>
          <a:ln w="508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2432160" y="1801440"/>
            <a:ext cx="145800" cy="145800"/>
          </a:xfrm>
          <a:prstGeom prst="ellipse">
            <a:avLst/>
          </a:prstGeom>
          <a:solidFill>
            <a:srgbClr val="dce4ec"/>
          </a:solidFill>
          <a:ln w="12700">
            <a:solidFill>
              <a:srgbClr val="dc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1746360" y="2990160"/>
            <a:ext cx="273960" cy="273960"/>
          </a:xfrm>
          <a:prstGeom prst="ellipse">
            <a:avLst/>
          </a:prstGeom>
          <a:solidFill>
            <a:srgbClr val="ffd45c"/>
          </a:solidFill>
          <a:ln w="12700">
            <a:solidFill>
              <a:srgbClr val="ffd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2816280" y="4370760"/>
            <a:ext cx="310680" cy="31068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4"/>
          <p:cNvSpPr/>
          <p:nvPr/>
        </p:nvSpPr>
        <p:spPr>
          <a:xfrm>
            <a:off x="2505240" y="1874520"/>
            <a:ext cx="360" cy="2651760"/>
          </a:xfrm>
          <a:prstGeom prst="line">
            <a:avLst/>
          </a:prstGeom>
          <a:ln w="12700">
            <a:solidFill>
              <a:srgbClr val="6778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1965960" y="233172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θ₁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2148840" y="379476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θ₂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1508760" y="29718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d45c"/>
                </a:solidFill>
                <a:effectLst/>
                <a:uFillTx/>
                <a:latin typeface="Aptos"/>
              </a:rPr>
              <a:t>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3200400" y="441648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5d73"/>
                </a:solidFill>
                <a:effectLst/>
                <a:uFillTx/>
                <a:latin typeface="Aptos"/>
              </a:rPr>
              <a:t>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1920240" y="242316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7b7ff"/>
                </a:solidFill>
                <a:effectLst/>
                <a:uFillTx/>
                <a:latin typeface="Aptos"/>
              </a:rPr>
              <a:t>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2514600" y="37490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7b7ff"/>
                </a:solidFill>
                <a:effectLst/>
                <a:uFillTx/>
                <a:latin typeface="Aptos"/>
              </a:rPr>
              <a:t>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914400" y="52120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Angles are measured from the downward vertical.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4983480" y="14173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State representation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5074920" y="18745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4f7fa"/>
                </a:solidFill>
                <a:effectLst/>
                <a:uFillTx/>
                <a:latin typeface="Cambria Math"/>
                <a:ea typeface="Cambria Math"/>
              </a:rPr>
              <a:t>y = [ θ₁   ω₁   θ₂   ω₂ ]ᵀ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7132320" y="18745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θ₁, θ₂  angular positions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7132320" y="22402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ω₁, ω₂  angular velocities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4983480" y="36118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Coupled nonlinear equations of motion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83480" y="4005000"/>
            <a:ext cx="598896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983480" y="4892040"/>
            <a:ext cx="598896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7"/>
          <p:cNvSpPr/>
          <p:nvPr/>
        </p:nvSpPr>
        <p:spPr>
          <a:xfrm>
            <a:off x="5010840" y="57423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Each acceleration depends on the motion of the other link.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8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57385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7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973462-61B5-4106-9A62-F8CEFD8BBBBB}" type="slidenum">
              <a: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d7dde4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d7dde4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30280" y="3841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02b"/>
                </a:solidFill>
                <a:effectLst/>
                <a:uFillTx/>
                <a:latin typeface="Aptos Display"/>
                <a:ea typeface="Aptos Display"/>
              </a:rPr>
              <a:t>Numerical Method &amp; Simulation Setup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548640" y="850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87482"/>
                </a:solidFill>
                <a:effectLst/>
                <a:uFillTx/>
                <a:latin typeface="Aptos"/>
              </a:rPr>
              <a:t>Second-order Runge–Kutta midpoint integration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567000" y="1353240"/>
            <a:ext cx="662904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841320" y="1627560"/>
            <a:ext cx="411120" cy="41112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841320" y="16642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1417320" y="160920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Evaluate current derivative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703320" y="1554480"/>
            <a:ext cx="292572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Shape 12"/>
          <p:cNvSpPr/>
          <p:nvPr/>
        </p:nvSpPr>
        <p:spPr>
          <a:xfrm>
            <a:off x="1046880" y="2066400"/>
            <a:ext cx="360" cy="530280"/>
          </a:xfrm>
          <a:prstGeom prst="line">
            <a:avLst/>
          </a:prstGeom>
          <a:ln w="19050">
            <a:solidFill>
              <a:srgbClr val="b7c2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841320" y="2633400"/>
            <a:ext cx="411120" cy="41112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841320" y="2670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1417320" y="26150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Estimate midpoint state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703320" y="2560320"/>
            <a:ext cx="292572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Shape 16"/>
          <p:cNvSpPr/>
          <p:nvPr/>
        </p:nvSpPr>
        <p:spPr>
          <a:xfrm>
            <a:off x="1046880" y="3072240"/>
            <a:ext cx="360" cy="530280"/>
          </a:xfrm>
          <a:prstGeom prst="line">
            <a:avLst/>
          </a:prstGeom>
          <a:ln w="19050">
            <a:solidFill>
              <a:srgbClr val="b7c2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841320" y="3639240"/>
            <a:ext cx="411120" cy="41112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841320" y="367596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1417320" y="362088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Evaluate midpoint derivative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703320" y="3566160"/>
            <a:ext cx="292572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Shape 20"/>
          <p:cNvSpPr/>
          <p:nvPr/>
        </p:nvSpPr>
        <p:spPr>
          <a:xfrm>
            <a:off x="1046880" y="4078080"/>
            <a:ext cx="360" cy="530280"/>
          </a:xfrm>
          <a:prstGeom prst="line">
            <a:avLst/>
          </a:prstGeom>
          <a:ln w="19050">
            <a:solidFill>
              <a:srgbClr val="b7c2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841320" y="4645080"/>
            <a:ext cx="411120" cy="411120"/>
          </a:xfrm>
          <a:prstGeom prst="ellipse">
            <a:avLst/>
          </a:prstGeom>
          <a:solidFill>
            <a:srgbClr val="70d6a8"/>
          </a:solidFill>
          <a:ln w="12700">
            <a:solidFill>
              <a:srgbClr val="70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841320" y="46818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1417320" y="462672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Advance full timestep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703320" y="4572000"/>
            <a:ext cx="292572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24"/>
          <p:cNvSpPr/>
          <p:nvPr/>
        </p:nvSpPr>
        <p:spPr>
          <a:xfrm>
            <a:off x="7635240" y="14173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Simulation parameters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5"/>
          <p:cNvSpPr/>
          <p:nvPr/>
        </p:nvSpPr>
        <p:spPr>
          <a:xfrm>
            <a:off x="7635240" y="1847160"/>
            <a:ext cx="3474360" cy="5115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6"/>
          <p:cNvSpPr/>
          <p:nvPr/>
        </p:nvSpPr>
        <p:spPr>
          <a:xfrm>
            <a:off x="7818120" y="1965960"/>
            <a:ext cx="822600" cy="273960"/>
          </a:xfrm>
          <a:prstGeom prst="roundRect">
            <a:avLst>
              <a:gd name="adj" fmla="val 16667"/>
            </a:avLst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7818120" y="197496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Δt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8869680" y="19569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0.001 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9"/>
          <p:cNvSpPr/>
          <p:nvPr/>
        </p:nvSpPr>
        <p:spPr>
          <a:xfrm>
            <a:off x="7635240" y="2505600"/>
            <a:ext cx="3474360" cy="5115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0"/>
          <p:cNvSpPr/>
          <p:nvPr/>
        </p:nvSpPr>
        <p:spPr>
          <a:xfrm>
            <a:off x="7818120" y="2624400"/>
            <a:ext cx="822600" cy="273960"/>
          </a:xfrm>
          <a:prstGeom prst="roundRect">
            <a:avLst>
              <a:gd name="adj" fmla="val 16667"/>
            </a:avLst>
          </a:prstGeom>
          <a:solidFill>
            <a:srgbClr val="70d6a8"/>
          </a:solidFill>
          <a:ln w="12700">
            <a:solidFill>
              <a:srgbClr val="70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7818120" y="263340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Duration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2"/>
          <p:cNvSpPr/>
          <p:nvPr/>
        </p:nvSpPr>
        <p:spPr>
          <a:xfrm>
            <a:off x="8869680" y="26150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30 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3"/>
          <p:cNvSpPr/>
          <p:nvPr/>
        </p:nvSpPr>
        <p:spPr>
          <a:xfrm>
            <a:off x="7635240" y="3163680"/>
            <a:ext cx="3474360" cy="5115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4"/>
          <p:cNvSpPr/>
          <p:nvPr/>
        </p:nvSpPr>
        <p:spPr>
          <a:xfrm>
            <a:off x="7818120" y="3282840"/>
            <a:ext cx="822600" cy="273960"/>
          </a:xfrm>
          <a:prstGeom prst="roundRect">
            <a:avLst>
              <a:gd name="adj" fmla="val 16667"/>
            </a:avLst>
          </a:prstGeom>
          <a:solidFill>
            <a:srgbClr val="ffd45c"/>
          </a:solidFill>
          <a:ln w="12700">
            <a:solidFill>
              <a:srgbClr val="ffd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5"/>
          <p:cNvSpPr/>
          <p:nvPr/>
        </p:nvSpPr>
        <p:spPr>
          <a:xfrm>
            <a:off x="7818120" y="329184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8869680" y="32734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9.81 m/s²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7"/>
          <p:cNvSpPr/>
          <p:nvPr/>
        </p:nvSpPr>
        <p:spPr>
          <a:xfrm>
            <a:off x="7635240" y="3822120"/>
            <a:ext cx="3474360" cy="5115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8"/>
          <p:cNvSpPr/>
          <p:nvPr/>
        </p:nvSpPr>
        <p:spPr>
          <a:xfrm>
            <a:off x="7818120" y="3940920"/>
            <a:ext cx="822600" cy="273960"/>
          </a:xfrm>
          <a:prstGeom prst="roundRect">
            <a:avLst>
              <a:gd name="adj" fmla="val 16667"/>
            </a:avLst>
          </a:prstGeom>
          <a:solidFill>
            <a:srgbClr val="ff5d73"/>
          </a:solidFill>
          <a:ln w="12700">
            <a:solidFill>
              <a:srgbClr val="ff5d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9"/>
          <p:cNvSpPr/>
          <p:nvPr/>
        </p:nvSpPr>
        <p:spPr>
          <a:xfrm>
            <a:off x="7818120" y="395028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0"/>
          <p:cNvSpPr/>
          <p:nvPr/>
        </p:nvSpPr>
        <p:spPr>
          <a:xfrm>
            <a:off x="8869680" y="39319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1 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1"/>
          <p:cNvSpPr/>
          <p:nvPr/>
        </p:nvSpPr>
        <p:spPr>
          <a:xfrm>
            <a:off x="7635240" y="4480560"/>
            <a:ext cx="3474360" cy="5115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2"/>
          <p:cNvSpPr/>
          <p:nvPr/>
        </p:nvSpPr>
        <p:spPr>
          <a:xfrm>
            <a:off x="7818120" y="4599360"/>
            <a:ext cx="822600" cy="273960"/>
          </a:xfrm>
          <a:prstGeom prst="roundRect">
            <a:avLst>
              <a:gd name="adj" fmla="val 16667"/>
            </a:avLst>
          </a:prstGeom>
          <a:solidFill>
            <a:srgbClr val="9b8cff"/>
          </a:solidFill>
          <a:ln w="12700">
            <a:solidFill>
              <a:srgbClr val="9b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3"/>
          <p:cNvSpPr/>
          <p:nvPr/>
        </p:nvSpPr>
        <p:spPr>
          <a:xfrm>
            <a:off x="7818120" y="460872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m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4"/>
          <p:cNvSpPr/>
          <p:nvPr/>
        </p:nvSpPr>
        <p:spPr>
          <a:xfrm>
            <a:off x="8869680" y="45903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2 kg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5"/>
          <p:cNvSpPr/>
          <p:nvPr/>
        </p:nvSpPr>
        <p:spPr>
          <a:xfrm>
            <a:off x="7635240" y="53492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Initial conditions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6"/>
          <p:cNvSpPr/>
          <p:nvPr/>
        </p:nvSpPr>
        <p:spPr>
          <a:xfrm>
            <a:off x="7635240" y="562356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87482"/>
                </a:solidFill>
                <a:effectLst/>
                <a:uFillTx/>
                <a:latin typeface="Aptos"/>
              </a:rPr>
              <a:t>θ₁(0)=π   ω₁(0)=0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87482"/>
                </a:solidFill>
                <a:effectLst/>
                <a:uFillTx/>
                <a:latin typeface="Aptos"/>
              </a:rPr>
              <a:t>θ₂(0)=π/2   ω₂(0)=0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7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49f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sldNum" idx="8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c758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1EE21E-3DB9-4740-B41A-C21FD2198E1F}" type="slidenum">
              <a:rPr b="0" lang="en-US" sz="900" strike="noStrike" u="none">
                <a:solidFill>
                  <a:srgbClr val="6c7580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530280" y="3841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4f7fa"/>
                </a:solidFill>
                <a:effectLst/>
                <a:uFillTx/>
                <a:latin typeface="Aptos Display"/>
                <a:ea typeface="Aptos Display"/>
              </a:rPr>
              <a:t>Python Implementation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548640" y="850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Model → solver → validation → visualization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640080" y="1508760"/>
            <a:ext cx="2057040" cy="712800"/>
          </a:xfrm>
          <a:prstGeom prst="roundRect">
            <a:avLst>
              <a:gd name="adj" fmla="val 7692"/>
            </a:avLst>
          </a:prstGeom>
          <a:solidFill>
            <a:srgbClr val="132033"/>
          </a:solidFill>
          <a:ln w="1905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777240" y="16369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Equations of Motion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777240" y="190188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diffeq(y)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2788920" y="1710000"/>
            <a:ext cx="319680" cy="273960"/>
          </a:xfrm>
          <a:prstGeom prst="chevron">
            <a:avLst>
              <a:gd name="adj" fmla="val 50000"/>
            </a:avLst>
          </a:prstGeom>
          <a:solidFill>
            <a:srgbClr val="52657a"/>
          </a:solidFill>
          <a:ln w="12700">
            <a:solidFill>
              <a:srgbClr val="526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3017520" y="1508760"/>
            <a:ext cx="2057040" cy="712800"/>
          </a:xfrm>
          <a:prstGeom prst="roundRect">
            <a:avLst>
              <a:gd name="adj" fmla="val 7692"/>
            </a:avLst>
          </a:prstGeom>
          <a:solidFill>
            <a:srgbClr val="132033"/>
          </a:solidFill>
          <a:ln w="19050">
            <a:solidFill>
              <a:srgbClr val="70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3154680" y="16369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RK2 Solver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3154680" y="190188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move_RK2()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5"/>
          <p:cNvSpPr/>
          <p:nvPr/>
        </p:nvSpPr>
        <p:spPr>
          <a:xfrm>
            <a:off x="5166360" y="1710000"/>
            <a:ext cx="319680" cy="273960"/>
          </a:xfrm>
          <a:prstGeom prst="chevron">
            <a:avLst>
              <a:gd name="adj" fmla="val 50000"/>
            </a:avLst>
          </a:prstGeom>
          <a:solidFill>
            <a:srgbClr val="52657a"/>
          </a:solidFill>
          <a:ln w="12700">
            <a:solidFill>
              <a:srgbClr val="526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6"/>
          <p:cNvSpPr/>
          <p:nvPr/>
        </p:nvSpPr>
        <p:spPr>
          <a:xfrm>
            <a:off x="5394960" y="1508760"/>
            <a:ext cx="2057040" cy="712800"/>
          </a:xfrm>
          <a:prstGeom prst="roundRect">
            <a:avLst>
              <a:gd name="adj" fmla="val 7692"/>
            </a:avLst>
          </a:prstGeom>
          <a:solidFill>
            <a:srgbClr val="132033"/>
          </a:solidFill>
          <a:ln w="19050">
            <a:solidFill>
              <a:srgbClr val="ffd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5532120" y="163692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30 s Trajectory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8"/>
          <p:cNvSpPr/>
          <p:nvPr/>
        </p:nvSpPr>
        <p:spPr>
          <a:xfrm>
            <a:off x="5532120" y="190188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state history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9"/>
          <p:cNvSpPr/>
          <p:nvPr/>
        </p:nvSpPr>
        <p:spPr>
          <a:xfrm>
            <a:off x="6418800" y="2240280"/>
            <a:ext cx="360" cy="594360"/>
          </a:xfrm>
          <a:prstGeom prst="line">
            <a:avLst/>
          </a:prstGeom>
          <a:ln w="19050">
            <a:solidFill>
              <a:srgbClr val="526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0"/>
          <p:cNvSpPr/>
          <p:nvPr/>
        </p:nvSpPr>
        <p:spPr>
          <a:xfrm>
            <a:off x="5303520" y="2834640"/>
            <a:ext cx="2240280" cy="360"/>
          </a:xfrm>
          <a:prstGeom prst="line">
            <a:avLst/>
          </a:prstGeom>
          <a:ln w="19050">
            <a:solidFill>
              <a:srgbClr val="526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1"/>
          <p:cNvSpPr/>
          <p:nvPr/>
        </p:nvSpPr>
        <p:spPr>
          <a:xfrm>
            <a:off x="5303520" y="2834640"/>
            <a:ext cx="360" cy="383760"/>
          </a:xfrm>
          <a:prstGeom prst="line">
            <a:avLst/>
          </a:prstGeom>
          <a:ln w="19050">
            <a:solidFill>
              <a:srgbClr val="526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2"/>
          <p:cNvSpPr/>
          <p:nvPr/>
        </p:nvSpPr>
        <p:spPr>
          <a:xfrm>
            <a:off x="7543800" y="2834640"/>
            <a:ext cx="360" cy="383760"/>
          </a:xfrm>
          <a:prstGeom prst="line">
            <a:avLst/>
          </a:prstGeom>
          <a:ln w="19050">
            <a:solidFill>
              <a:srgbClr val="526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3"/>
          <p:cNvSpPr/>
          <p:nvPr/>
        </p:nvSpPr>
        <p:spPr>
          <a:xfrm>
            <a:off x="4297680" y="3218760"/>
            <a:ext cx="2102760" cy="685440"/>
          </a:xfrm>
          <a:prstGeom prst="roundRect">
            <a:avLst>
              <a:gd name="adj" fmla="val 8000"/>
            </a:avLst>
          </a:prstGeom>
          <a:solidFill>
            <a:srgbClr val="132033"/>
          </a:solidFill>
          <a:ln w="19050">
            <a:solidFill>
              <a:srgbClr val="ff5d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4"/>
          <p:cNvSpPr/>
          <p:nvPr/>
        </p:nvSpPr>
        <p:spPr>
          <a:xfrm>
            <a:off x="4480560" y="33742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Energy Analysis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5"/>
          <p:cNvSpPr/>
          <p:nvPr/>
        </p:nvSpPr>
        <p:spPr>
          <a:xfrm>
            <a:off x="6537960" y="3218760"/>
            <a:ext cx="2102760" cy="685440"/>
          </a:xfrm>
          <a:prstGeom prst="roundRect">
            <a:avLst>
              <a:gd name="adj" fmla="val 8000"/>
            </a:avLst>
          </a:prstGeom>
          <a:solidFill>
            <a:srgbClr val="132033"/>
          </a:solidFill>
          <a:ln w="19050">
            <a:solidFill>
              <a:srgbClr val="9b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6"/>
          <p:cNvSpPr/>
          <p:nvPr/>
        </p:nvSpPr>
        <p:spPr>
          <a:xfrm>
            <a:off x="6693480" y="3374280"/>
            <a:ext cx="1791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Pygame Animation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7"/>
          <p:cNvSpPr/>
          <p:nvPr/>
        </p:nvSpPr>
        <p:spPr>
          <a:xfrm>
            <a:off x="658440" y="4251960"/>
            <a:ext cx="10103760" cy="1416960"/>
          </a:xfrm>
          <a:prstGeom prst="roundRect">
            <a:avLst>
              <a:gd name="adj" fmla="val 4516"/>
            </a:avLst>
          </a:prstGeom>
          <a:solidFill>
            <a:srgbClr val="0a111c"/>
          </a:solidFill>
          <a:ln w="12700">
            <a:solidFill>
              <a:srgbClr val="2638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8"/>
          <p:cNvSpPr/>
          <p:nvPr/>
        </p:nvSpPr>
        <p:spPr>
          <a:xfrm>
            <a:off x="896040" y="44348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7b7ff"/>
                </a:solidFill>
                <a:effectLst/>
                <a:uFillTx/>
                <a:latin typeface="Aptos"/>
              </a:rPr>
              <a:t>RK2 midpoint implementation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9"/>
          <p:cNvSpPr/>
          <p:nvPr/>
        </p:nvSpPr>
        <p:spPr>
          <a:xfrm>
            <a:off x="896040" y="4681800"/>
            <a:ext cx="4388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1ec"/>
                </a:solidFill>
                <a:effectLst/>
                <a:uFillTx/>
                <a:latin typeface="Courier New"/>
                <a:ea typeface="Courier New"/>
              </a:rPr>
              <a:t>def move_RK2(f, y, dt):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1ec"/>
                </a:solidFill>
                <a:effectLst/>
                <a:uFillTx/>
                <a:latin typeface="Courier New"/>
                <a:ea typeface="Courier New"/>
              </a:rPr>
              <a:t>    ydot = f(y)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1ec"/>
                </a:solidFill>
                <a:effectLst/>
                <a:uFillTx/>
                <a:latin typeface="Courier New"/>
                <a:ea typeface="Courier New"/>
              </a:rPr>
              <a:t>    y_half = y + ydot * dt/2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1ec"/>
                </a:solidFill>
                <a:effectLst/>
                <a:uFillTx/>
                <a:latin typeface="Courier New"/>
                <a:ea typeface="Courier New"/>
              </a:rPr>
              <a:t>    ydot_half = f(y_half)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6e1ec"/>
                </a:solidFill>
                <a:effectLst/>
                <a:uFillTx/>
                <a:latin typeface="Courier New"/>
                <a:ea typeface="Courier New"/>
              </a:rPr>
              <a:t>    return y + ydot_half * dt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0"/>
          <p:cNvSpPr/>
          <p:nvPr/>
        </p:nvSpPr>
        <p:spPr>
          <a:xfrm>
            <a:off x="5715000" y="4663440"/>
            <a:ext cx="4434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The same state history is reused for both numerical validation and the interactive visualization.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1"/>
          <p:cNvSpPr/>
          <p:nvPr/>
        </p:nvSpPr>
        <p:spPr>
          <a:xfrm>
            <a:off x="5715000" y="5266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This separates the solver from the presentation layer and keeps the test calculations tied to the exact simulated trajectory.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2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57385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ldNum" idx="9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36901-4D46-4A06-ACEC-6FACD18307D3}" type="slidenum">
              <a: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d7dde4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d7dde4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d7dde4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530280" y="3841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7202b"/>
                </a:solidFill>
                <a:effectLst/>
                <a:uFillTx/>
                <a:latin typeface="Aptos Display"/>
                <a:ea typeface="Aptos Display"/>
              </a:rPr>
              <a:t>Test &amp; Numerical Validation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548640" y="850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87482"/>
                </a:solidFill>
                <a:effectLst/>
                <a:uFillTx/>
                <a:latin typeface="Aptos"/>
              </a:rPr>
              <a:t>Energy conservation used as a quantitative check on the RK2 solution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567000" y="1371600"/>
            <a:ext cx="7497720" cy="452592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0" descr="/mnt/data/energy_error_plot.png"/>
          <p:cNvPicPr/>
          <p:nvPr/>
        </p:nvPicPr>
        <p:blipFill>
          <a:blip r:embed="rId1"/>
          <a:stretch/>
        </p:blipFill>
        <p:spPr>
          <a:xfrm>
            <a:off x="804600" y="1779120"/>
            <a:ext cx="7040520" cy="372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9"/>
          <p:cNvSpPr/>
          <p:nvPr/>
        </p:nvSpPr>
        <p:spPr>
          <a:xfrm>
            <a:off x="8412480" y="14173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Relative energy error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30840" y="1828800"/>
            <a:ext cx="242280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Shape 10"/>
          <p:cNvSpPr/>
          <p:nvPr/>
        </p:nvSpPr>
        <p:spPr>
          <a:xfrm>
            <a:off x="8275320" y="2761560"/>
            <a:ext cx="2880000" cy="1078560"/>
          </a:xfrm>
          <a:prstGeom prst="roundRect">
            <a:avLst>
              <a:gd name="adj" fmla="val 6780"/>
            </a:avLst>
          </a:prstGeom>
          <a:solidFill>
            <a:srgbClr val="ebf6ff"/>
          </a:solidFill>
          <a:ln w="1778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8476560" y="2953440"/>
            <a:ext cx="2468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19" strike="noStrike" u="none">
                <a:solidFill>
                  <a:srgbClr val="3c6a90"/>
                </a:solidFill>
                <a:effectLst/>
                <a:uFillTx/>
                <a:latin typeface="Aptos"/>
              </a:rPr>
              <a:t>MAX RELATIVE ERROR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8476560" y="321876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1.58 × 10⁻⁴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8476560" y="3584520"/>
            <a:ext cx="2422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c6a90"/>
                </a:solidFill>
                <a:effectLst/>
                <a:uFillTx/>
                <a:latin typeface="Aptos"/>
              </a:rPr>
              <a:t>≈ 0.0158%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8412480" y="416052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Test objective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8412480" y="4480560"/>
            <a:ext cx="2880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687482"/>
                </a:solidFill>
                <a:effectLst/>
                <a:uFillTx/>
                <a:latin typeface="Aptos"/>
              </a:rPr>
              <a:t>Verify that the chosen timestep produces a numerically stable solution with minimal mechanical-energy drift.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8412480" y="539496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02b"/>
                </a:solidFill>
                <a:effectLst/>
                <a:uFillTx/>
                <a:latin typeface="Aptos"/>
              </a:rPr>
              <a:t>Conclusion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8412480" y="5687640"/>
            <a:ext cx="2971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687482"/>
                </a:solidFill>
                <a:effectLst/>
                <a:uFillTx/>
                <a:latin typeface="Aptos"/>
              </a:rPr>
              <a:t>The 0.001 s timestep keeps the maximum error below 0.02% over the 30-second test.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49f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Num" idx="10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c758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C4FE27-C9A9-489A-8CAC-533BD61D5FA0}" type="slidenum">
              <a:rPr b="0" lang="en-US" sz="900" strike="noStrike" u="none">
                <a:solidFill>
                  <a:srgbClr val="6c7580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530280" y="3841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4f7fa"/>
                </a:solidFill>
                <a:effectLst/>
                <a:uFillTx/>
                <a:latin typeface="Aptos Display"/>
                <a:ea typeface="Aptos Display"/>
              </a:rPr>
              <a:t>Interactive Visualization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548640" y="850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Pygame animation built from the same validated trajectory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594360" y="1353240"/>
            <a:ext cx="6537600" cy="4772880"/>
          </a:xfrm>
          <a:prstGeom prst="roundRect">
            <a:avLst>
              <a:gd name="adj" fmla="val 1533"/>
            </a:avLst>
          </a:prstGeom>
          <a:solidFill>
            <a:srgbClr val="111c2d"/>
          </a:solidFill>
          <a:ln w="12700">
            <a:solidFill>
              <a:srgbClr val="2638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80" y="1517760"/>
            <a:ext cx="6235920" cy="4416120"/>
          </a:xfrm>
          <a:prstGeom prst="rect">
            <a:avLst/>
          </a:prstGeom>
          <a:ln w="0">
            <a:noFill/>
          </a:ln>
        </p:spPr>
      </p:pic>
      <p:sp>
        <p:nvSpPr>
          <p:cNvPr id="185" name="Text 9"/>
          <p:cNvSpPr/>
          <p:nvPr/>
        </p:nvSpPr>
        <p:spPr>
          <a:xfrm>
            <a:off x="7571160" y="1481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Playback controls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7607880" y="1993320"/>
            <a:ext cx="868320" cy="383760"/>
          </a:xfrm>
          <a:prstGeom prst="roundRect">
            <a:avLst>
              <a:gd name="adj" fmla="val 11905"/>
            </a:avLst>
          </a:prstGeom>
          <a:solidFill>
            <a:srgbClr val="1b2a3d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7607880" y="2048400"/>
            <a:ext cx="868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SPACE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8686800" y="2039040"/>
            <a:ext cx="2285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Pause / resume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7607880" y="2670120"/>
            <a:ext cx="868320" cy="383760"/>
          </a:xfrm>
          <a:prstGeom prst="roundRect">
            <a:avLst>
              <a:gd name="adj" fmla="val 11905"/>
            </a:avLst>
          </a:prstGeom>
          <a:solidFill>
            <a:srgbClr val="1b2a3d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7607880" y="2724840"/>
            <a:ext cx="868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8686800" y="2715840"/>
            <a:ext cx="2285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Restart + clear trail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7607880" y="3346560"/>
            <a:ext cx="868320" cy="383760"/>
          </a:xfrm>
          <a:prstGeom prst="roundRect">
            <a:avLst>
              <a:gd name="adj" fmla="val 11905"/>
            </a:avLst>
          </a:prstGeom>
          <a:solidFill>
            <a:srgbClr val="183629"/>
          </a:solidFill>
          <a:ln w="12700">
            <a:solidFill>
              <a:srgbClr val="70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7607880" y="3401640"/>
            <a:ext cx="868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↑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8686800" y="3392280"/>
            <a:ext cx="2285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Increase speed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7607880" y="4023360"/>
            <a:ext cx="868320" cy="383760"/>
          </a:xfrm>
          <a:prstGeom prst="roundRect">
            <a:avLst>
              <a:gd name="adj" fmla="val 11905"/>
            </a:avLst>
          </a:prstGeom>
          <a:solidFill>
            <a:srgbClr val="183629"/>
          </a:solidFill>
          <a:ln w="12700">
            <a:solidFill>
              <a:srgbClr val="70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7607880" y="4078080"/>
            <a:ext cx="868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↓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8686800" y="4069080"/>
            <a:ext cx="2285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Decrease speed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7571160" y="48646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Visualization features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7607880" y="519372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• 900 × 900 window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• second-mass trajectory trail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• simulation timer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• 1×–10× playback speed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• every 10th solver point displayed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57385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sldNum" idx="11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079D87-A728-42C1-964D-7CAA85C8A0B1}" type="slidenum">
              <a: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 rot="1080000">
            <a:off x="9646560" y="-685800"/>
            <a:ext cx="2651400" cy="265140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 rot="1740000">
            <a:off x="9802440" y="-521280"/>
            <a:ext cx="2148480" cy="214848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 rot="2400000">
            <a:off x="9957960" y="-356400"/>
            <a:ext cx="1645560" cy="164556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 rot="3060000">
            <a:off x="10113480" y="-191880"/>
            <a:ext cx="1142640" cy="1142640"/>
          </a:xfrm>
          <a:prstGeom prst="rect">
            <a:avLst/>
          </a:prstGeom>
          <a:noFill/>
          <a:ln w="12700">
            <a:solidFill>
              <a:srgbClr val="334357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 flipV="1">
            <a:off x="-274320" y="4663440"/>
            <a:ext cx="2926080" cy="12344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 flipV="1">
            <a:off x="365760" y="4572000"/>
            <a:ext cx="3474720" cy="1920240"/>
          </a:xfrm>
          <a:prstGeom prst="line">
            <a:avLst/>
          </a:prstGeom>
          <a:ln w="12700">
            <a:solidFill>
              <a:srgbClr val="33435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530280" y="3841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4f7fa"/>
                </a:solidFill>
                <a:effectLst/>
                <a:uFillTx/>
                <a:latin typeface="Aptos Display"/>
                <a:ea typeface="Aptos Display"/>
              </a:rPr>
              <a:t>Results &amp; Engineering Takeaways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548640" y="850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What the project demonstrates beyond the animation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8"/>
          <p:cNvSpPr/>
          <p:nvPr/>
        </p:nvSpPr>
        <p:spPr>
          <a:xfrm>
            <a:off x="658440" y="14173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67b7ff"/>
                </a:solidFill>
                <a:effectLst/>
                <a:uFillTx/>
                <a:latin typeface="Aptos"/>
              </a:rPr>
              <a:t>Results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713160" y="1920240"/>
            <a:ext cx="145800" cy="14580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987480" y="187452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Implemented a nonlinear physical model in Python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713160" y="2496240"/>
            <a:ext cx="145800" cy="14580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987480" y="245052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Integrated 30 seconds of motion with RK2 at Δt = 0.001 s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713160" y="3072240"/>
            <a:ext cx="145800" cy="14580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987480" y="302652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Validated numerical stability through energy conservation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713160" y="3648600"/>
            <a:ext cx="145800" cy="145800"/>
          </a:xfrm>
          <a:prstGeom prst="ellipse">
            <a:avLst/>
          </a:prstGeom>
          <a:solidFill>
            <a:srgbClr val="70d6a8"/>
          </a:solidFill>
          <a:ln w="12700">
            <a:solidFill>
              <a:srgbClr val="70d6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987480" y="360288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4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Measured a maximum relative energy error of ≈ 0.0158%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713160" y="4224600"/>
            <a:ext cx="145800" cy="145800"/>
          </a:xfrm>
          <a:prstGeom prst="ellipse">
            <a:avLst/>
          </a:prstGeom>
          <a:solidFill>
            <a:srgbClr val="67b7ff"/>
          </a:solidFill>
          <a:ln w="12700">
            <a:solidFill>
              <a:srgbClr val="67b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987480" y="417888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Built an interactive Pygame visualization with playback controls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6446520" y="14173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d45c"/>
                </a:solidFill>
                <a:effectLst/>
                <a:uFillTx/>
                <a:latin typeface="Aptos"/>
              </a:rPr>
              <a:t>Future work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6473880" y="1892880"/>
            <a:ext cx="292320" cy="255600"/>
          </a:xfrm>
          <a:prstGeom prst="rect">
            <a:avLst/>
          </a:prstGeom>
          <a:solidFill>
            <a:srgbClr val="ffd4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6931080" y="18745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Compare Euler, RK2, and RK4 accuracy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2"/>
          <p:cNvSpPr/>
          <p:nvPr/>
        </p:nvSpPr>
        <p:spPr>
          <a:xfrm>
            <a:off x="6473880" y="2505600"/>
            <a:ext cx="292320" cy="255600"/>
          </a:xfrm>
          <a:prstGeom prst="rect">
            <a:avLst/>
          </a:prstGeom>
          <a:solidFill>
            <a:srgbClr val="ffd4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6931080" y="248724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Run a systematic timestep-convergence study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4"/>
          <p:cNvSpPr/>
          <p:nvPr/>
        </p:nvSpPr>
        <p:spPr>
          <a:xfrm>
            <a:off x="6473880" y="3117960"/>
            <a:ext cx="292320" cy="255600"/>
          </a:xfrm>
          <a:prstGeom prst="rect">
            <a:avLst/>
          </a:prstGeom>
          <a:solidFill>
            <a:srgbClr val="ffd4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6931080" y="30999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Quantify sensitivity to nearby initial conditions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6473880" y="3730680"/>
            <a:ext cx="292320" cy="255600"/>
          </a:xfrm>
          <a:prstGeom prst="rect">
            <a:avLst/>
          </a:prstGeom>
          <a:solidFill>
            <a:srgbClr val="ffd4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e1624"/>
                </a:solidFill>
                <a:effectLst/>
                <a:uFillTx/>
                <a:latin typeface="Aptos"/>
              </a:rPr>
              <a:t>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7"/>
          <p:cNvSpPr/>
          <p:nvPr/>
        </p:nvSpPr>
        <p:spPr>
          <a:xfrm>
            <a:off x="6931080" y="37123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Compare numerical accuracy versus compute cost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6446520" y="4681800"/>
            <a:ext cx="4708800" cy="1243080"/>
          </a:xfrm>
          <a:prstGeom prst="roundRect">
            <a:avLst>
              <a:gd name="adj" fmla="val 5147"/>
            </a:avLst>
          </a:prstGeom>
          <a:solidFill>
            <a:srgbClr val="111c2d"/>
          </a:solidFill>
          <a:ln w="12700">
            <a:solidFill>
              <a:srgbClr val="3144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9"/>
          <p:cNvSpPr/>
          <p:nvPr/>
        </p:nvSpPr>
        <p:spPr>
          <a:xfrm>
            <a:off x="6675120" y="48920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Project history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0"/>
          <p:cNvSpPr/>
          <p:nvPr/>
        </p:nvSpPr>
        <p:spPr>
          <a:xfrm>
            <a:off x="6675120" y="5239440"/>
            <a:ext cx="4068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9ba8b7"/>
                </a:solidFill>
                <a:effectLst/>
                <a:uFillTx/>
                <a:latin typeface="Aptos"/>
              </a:rPr>
              <a:t>Originally developed as a PHYS 3910 group project with Araceli Herrera Mondragon and Joseph Morin. This portfolio version was subsequently extended and revised by Mauricio Sanchez.</a:t>
            </a:r>
            <a:endParaRPr b="0" lang="en-US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658440" y="50749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70d6a8"/>
                </a:solidFill>
                <a:effectLst/>
                <a:uFillTx/>
                <a:latin typeface="Aptos"/>
              </a:rPr>
              <a:t>Engineering relevance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2"/>
          <p:cNvSpPr/>
          <p:nvPr/>
        </p:nvSpPr>
        <p:spPr>
          <a:xfrm>
            <a:off x="658440" y="5440680"/>
            <a:ext cx="516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4f7fa"/>
                </a:solidFill>
                <a:effectLst/>
                <a:uFillTx/>
                <a:latin typeface="Aptos"/>
              </a:rPr>
              <a:t>Modeling • test planning • numerical validation • data analysis • troubleshooting • technical communication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3"/>
          <p:cNvSpPr/>
          <p:nvPr/>
        </p:nvSpPr>
        <p:spPr>
          <a:xfrm>
            <a:off x="502920" y="64555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57385"/>
                </a:solidFill>
                <a:effectLst/>
                <a:uFillTx/>
                <a:latin typeface="Aptos"/>
                <a:ea typeface="Aptos"/>
              </a:rPr>
              <a:t>Double Pendulum | Mauricio Sanchez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sldNum" idx="12"/>
          </p:nvPr>
        </p:nvSpPr>
        <p:spPr>
          <a:xfrm>
            <a:off x="11521440" y="6510600"/>
            <a:ext cx="4111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5270D0-4C6C-4995-AD13-9343908820BF}" type="slidenum">
              <a:rPr b="0" lang="en-US" sz="900" strike="noStrike" u="none">
                <a:solidFill>
                  <a:srgbClr val="7f8b9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Portfolio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2026-08-13T07:50:28Z</dcterms:created>
  <dc:creator>Mauricio Sanchez</dc:creator>
  <dc:description/>
  <dc:language>en-US</dc:language>
  <cp:lastModifiedBy>Mauricio Sanchez</cp:lastModifiedBy>
  <dcterms:modified xsi:type="dcterms:W3CDTF">2026-08-13T07:50:28Z</dcterms:modified>
  <cp:revision>1</cp:revision>
  <dc:subject>Double Pendulum Simulation and Numerical Validation</dc:subject>
  <dc:title>Double Pendulum Simulation &amp; Numerical Validation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